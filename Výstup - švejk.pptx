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a5c98e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a5c98e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5a5c98e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5a5c98e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a5c98ea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5a5c98ea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5a5c98ea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5a5c98ea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5a5c98ea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5a5c98ea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a5c98ea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a5c98e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5a5c98ea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5a5c98ea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5a5c98ea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5a5c98e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5a5c98ea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5a5c98ea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5a5c98ea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5a5c98ea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5a5c98ea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5a5c98ea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drive/folders/1E787DQZepD769WJGEItQ_oV3_MBDAbUb?usp=sharin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211C14"/>
                </a:solidFill>
                <a:latin typeface="Anton"/>
              </a:rPr>
              <a:t>POSLUŠNĚ HLÁSÍM</a:t>
            </a:r>
          </a:p>
          <a:p>
            <a:pPr algn="ctr"/>
            <a:r>
              <a:rPr sz="1300" b="0">
                <a:solidFill>
                  <a:srgbClr val="5A503E"/>
                </a:solidFill>
                <a:latin typeface="Oswald"/>
              </a:rPr>
              <a:t>Švejk do sněmovny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211C14"/>
                </a:solidFill>
                <a:latin typeface="Old Standard TT"/>
              </a:rPr>
              <a:t>Každý den z jednání PS dostanete noviny ve stylu Švejka: co se hlasovalo, proč na tom záleží a jak dlouho to v sále trvalo.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211C14"/>
                </a:solidFill>
                <a:latin typeface="Anton"/>
              </a:rPr>
              <a:t>POSLUŠNĚ HLÁSÍM</a:t>
            </a:r>
          </a:p>
          <a:p>
            <a:pPr algn="ctr"/>
            <a:r>
              <a:rPr sz="1300" b="0">
                <a:solidFill>
                  <a:srgbClr val="5A503E"/>
                </a:solidFill>
                <a:latin typeface="Oswald"/>
              </a:rPr>
              <a:t>Švejk do sněmovny</a:t>
            </a:r>
          </a:p>
        </p:txBody>
      </p:sp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Poslušně hlasím</a:t>
            </a:r>
            <a:endParaRPr/>
          </a:p>
          <a:p>
            <a:r>
              <a:t>Švejk do sněmovny · #project-something_fun_with_data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Každý den z jednání PS dostanete noviny ve stylu Švejka: co se hlasovalo, proč na tom záleží a jak dlouho to v sále trvalo.</a:t>
            </a: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8686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F5A31"/>
                </a:solidFill>
                <a:latin typeface="Oswald"/>
              </a:rPr>
              <a:t>ŠVEJK DO SNĚMOVNY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685800"/>
            <a:ext cx="1012371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SLOŽENÍ TÝMU &amp; ROLE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Mission leader: Markéta Jedličková</a:t>
            </a:r>
            <a:endParaRPr/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Tým: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Markéta Jedličková (dev)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Dodo Dobrik (design)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PROBLÉM, KTERÝ JSME ŘEŠILI, A PROČ JE TO PROBLÉM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Jednání Poslanecké sněmovny jsou pro občana nepřehledná: desítky hlasování denně, stovky stran stenoprotokolu, žádné srozumitelné „co dnes rozhodli a proč by mě zajímalo“.</a:t>
            </a:r>
            <a:endParaRPr/>
          </a:p>
          <a:p/>
          <a:p>
            <a:r>
              <a:rPr sz="1400" b="0">
                <a:solidFill>
                  <a:srgbClr val="211C14"/>
                </a:solidFill>
                <a:latin typeface="Old Standard TT"/>
              </a:rPr>
              <a:t>Sledovat PS v reálném čase znamená buď odbornou znalost procedur, nebo hodiny u přenosu. Veřejná data existují, ale nejsou psaná pro lidi mimo bubble.</a:t>
            </a:r>
          </a:p>
          <a:p/>
          <a:p>
            <a:r>
              <a:rPr sz="1400" b="0">
                <a:solidFill>
                  <a:srgbClr val="211C14"/>
                </a:solidFill>
                <a:latin typeface="Old Standard TT"/>
              </a:rPr>
              <a:t>Problém: demokratická kontrola a zájem občanů naráží na bariéru formy, ne jen na nedostatek dat.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CO JSME VYTVOŘILI, ANEB KAM JSME DOŠLI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· Automatická pipeline: fetch (UNL + Hlídač) → align → extract → compose → export na web</a:t>
            </a:r>
            <a:endParaRPr/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20 schůzí VIII. volebního období (2025) zpracováno do vydání „noviny dlouhé“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Statický web poslusnehlasim.cz (GitHub Pages, design letterpress)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Ruční vrstva facts/ pro nadpisy, leady a „Co to znamená“ u klíčových témat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CLI: build, review, timeline, export-pages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Příklad: 28. 5. 2026, 47 hlasování, 793 minut v sále, stavební zákon ve Švejkově podání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ODKAZY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Web (vydání novin):</a:t>
            </a:r>
            <a:endParaRPr/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https://poslusnehlasim.cz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Příklad dne: https://poslusnehlasim.cz/noviny/2025/20/28.05.2026</a:t>
            </a:r>
          </a:p>
          <a:p/>
          <a:p>
            <a:r>
              <a:rPr sz="1400" b="0">
                <a:solidFill>
                  <a:srgbClr val="211C14"/>
                </a:solidFill>
                <a:latin typeface="Old Standard TT"/>
              </a:rPr>
              <a:t>Kód a dokumentace: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https://github.com/marketajedlick/poslusnehlasim</a:t>
            </a:r>
          </a:p>
          <a:p/>
          <a:p>
            <a:r>
              <a:rPr sz="1400" b="0">
                <a:solidFill>
                  <a:srgbClr val="211C14"/>
                </a:solidFill>
                <a:latin typeface="Old Standard TT"/>
              </a:rPr>
              <a:t>Lokální náhled po exportu: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./run-svejk.sh export-pages --obdobi 2025 --out site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LESSONS LEARNED, ANEB NEJDŮLEŽITĚJŠÍ AHA MOMENTY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· Největší práce není kód, ale kurátorská vrstva facts/ (1–3 věty + nadpis, které občan pochopí).</a:t>
            </a:r>
            <a:endParaRPr/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Švejkovský tón jde generovat pravidly (listy, glosy, hlasy) bez LLM, MVP je udržitelné a levné.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Stenozáznamy z Hlídače jsou zlato, ale API má rate limit, build musí umět pokračovat po přerušení.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Jedna pomlčka navíc v textu a compose spadne, kvalita výstupu se hlídá i technicky.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Chronologická navigace přes celé období (všechny schůze) je pro čtenáře důležitější než „jen jedna schůze“.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DALŠÍ KROKY, ANEB CO SE STANE PO HACKATONU?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211C14"/>
                </a:solidFill>
                <a:latin typeface="Old Standard TT"/>
              </a:rPr>
              <a:t>Končíme nebo pokračujeme? Pokračujeme (projekt žije jako redakce + pipeline).</a:t>
            </a:r>
            <a:endParaRPr/>
          </a:p>
          <a:p/>
          <a:p>
            <a:r>
              <a:rPr sz="1500" b="0">
                <a:solidFill>
                  <a:srgbClr val="211C14"/>
                </a:solidFill>
                <a:latin typeface="Old Standard TT"/>
              </a:rPr>
              <a:t>Pokračujeme-li:</a:t>
            </a:r>
          </a:p>
          <a:p>
            <a:r>
              <a:rPr sz="1500" b="0">
                <a:solidFill>
                  <a:srgbClr val="211C14"/>
                </a:solidFill>
                <a:latin typeface="Old Standard TT"/>
              </a:rPr>
              <a:t>· Owner / leader: Markéta Jedličková</a:t>
            </a:r>
          </a:p>
          <a:p>
            <a:r>
              <a:rPr sz="1500" b="0">
                <a:solidFill>
                  <a:srgbClr val="211C14"/>
                </a:solidFill>
                <a:latin typeface="Old Standard TT"/>
              </a:rPr>
              <a:t>· Tým: Markéta Jedličková (dev), Dodo Dobrik (design)</a:t>
            </a:r>
          </a:p>
          <a:p>
            <a:r>
              <a:rPr sz="1500" b="0">
                <a:solidFill>
                  <a:srgbClr val="211C14"/>
                </a:solidFill>
                <a:latin typeface="Old Standard TT"/>
              </a:rPr>
              <a:t>· Další rozhodnutí: po každé nové schůzi PS (cca 1× za 2–4 týdny) vyhodnotit, zda publikovat den</a:t>
            </a:r>
          </a:p>
          <a:p/>
          <a:p>
            <a:r>
              <a:rPr sz="1500" b="0">
                <a:solidFill>
                  <a:srgbClr val="211C14"/>
                </a:solidFill>
                <a:latin typeface="Old Standard TT"/>
              </a:rPr>
              <a:t>Plán na nejbližší dny:</a:t>
            </a:r>
          </a:p>
          <a:p>
            <a:r>
              <a:rPr sz="1500" b="0">
                <a:solidFill>
                  <a:srgbClr val="211C14"/>
                </a:solidFill>
                <a:latin typeface="Old Standard TT"/>
              </a:rPr>
              <a:t>· Po každé schůzi: fetch → compose → doladit facts u slabých témat (review --audit)</a:t>
            </a:r>
          </a:p>
          <a:p>
            <a:r>
              <a:rPr sz="1500" b="0">
                <a:solidFill>
                  <a:srgbClr val="211C14"/>
                </a:solidFill>
                <a:latin typeface="Old Standard TT"/>
              </a:rPr>
              <a:t>· Export na GitHub Pages (cron už běží, doplnit doménu DNS dle DEPLOY.md)</a:t>
            </a:r>
          </a:p>
          <a:p>
            <a:r>
              <a:rPr sz="1500" b="0">
                <a:solidFill>
                  <a:srgbClr val="211C14"/>
                </a:solidFill>
                <a:latin typeface="Old Standard TT"/>
              </a:rPr>
              <a:t>· [volitelně] rozšířit pokrytí stenem u starších dnů</a:t>
            </a:r>
          </a:p>
          <a:p/>
          <a:p>
            <a:r>
              <a:rPr sz="1500" b="0">
                <a:solidFill>
                  <a:srgbClr val="211C14"/>
                </a:solidFill>
                <a:latin typeface="Old Standard TT"/>
              </a:rPr>
              <a:t>Končíme-li: repo, processed/facts a tato prezentace jsou odevzdatelné v podsložce hackathonu.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NICE TO HAVE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VOLITELNÉ SLIDY 9–12 NÍŽE</a:t>
            </a:r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MEDAILONEK DO WHITE PAPERU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Poslušně hlasím převádí surová parlamentní data na denní noviny ve stylu Haška: srozumitelně, s humorem, ale s vazbou na reálná hlasování a čas v sále. Cílem není nahradit žurnalistiku, ale snížit bariéru „vůbec začít sledovat, co se ve sněmovně děje“.</a:t>
            </a:r>
            <a:endParaRPr/>
          </a:p>
          <a:p/>
          <a:p>
            <a:r>
              <a:rPr sz="1400" b="0">
                <a:solidFill>
                  <a:srgbClr val="211C14"/>
                </a:solidFill>
                <a:latin typeface="Old Standard TT"/>
              </a:rPr>
              <a:t>Na hackathonu vznikl end-to-end prototyp: od stažení hlasování a stenoprotokolů přes šablonový Švejk až po veřejný web s desítkami vydání. Klíčový insight: otevřená data nestačí, potřebují redakční vrstvu a jednotný jazyk pro občana.Chcete, abychom medailonek komunikovali i veřejně? ano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JAKÁ BYLA NAŠE CESTA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1. Záměr: „Švejk by to vysvětlil lépe než tiskovka PS“</a:t>
            </a:r>
            <a:endParaRPr/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2. Zdroje: UNL (hlasování), Hlídač státu (steno), vlastní align témat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3. MVP pipeline v Pythonu, první schůze ručně end-to-end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4. Šablona novin (varianta C / letterpress), export HTML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5. Hromadný build 20 schůzí období 2025, iterace facts a review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6. Nasazení na GitHub Pages, doména poslusnehlasim.cz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7. Doladění textů, normalizace, navigace mezi dny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STÁVAJÍCÍ ZÁSEKY A POTŘEBY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· Ruční práce u facts/by_topic: bez kurátora jsou články generické</a:t>
            </a:r>
            <a:endParaRPr/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Steno: ne všechny dny mají stejnou hloubku (skip-steno vs. plný fetch)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API Hlídače: 429, nutnost --preskocit-hotove a pomalého stahování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Témata s mnoha hlasováními (např. stavební zákon) potřebují extra péči v review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Potřeba: jednodušší editor pro redakci (dnes JSON + CLI)</a:t>
            </a:r>
          </a:p>
          <a:p>
            <a:r>
              <a:rPr sz="1400" b="0">
                <a:solidFill>
                  <a:srgbClr val="211C14"/>
                </a:solidFill>
                <a:latin typeface="Old Standard TT"/>
              </a:rPr>
              <a:t>· Potřeba: feedback od čtenářů, co jim v novinách chybí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BDA3"/>
        </a:solidFill>
        <a:effectLst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256032" y="192024"/>
            <a:ext cx="8631936" cy="25400"/>
          </a:xfrm>
          <a:prstGeom prst="rect">
            <a:avLst/>
          </a:prstGeom>
          <a:solidFill>
            <a:srgbClr val="21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56032" y="155448"/>
            <a:ext cx="8631936" cy="4732020"/>
          </a:xfrm>
          <a:prstGeom prst="rect">
            <a:avLst/>
          </a:prstGeom>
          <a:solidFill>
            <a:srgbClr val="F0E6CF"/>
          </a:solidFill>
          <a:ln w="15875">
            <a:solidFill>
              <a:srgbClr val="211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CF5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11C14"/>
                </a:solidFill>
                <a:latin typeface="Anton"/>
              </a:rPr>
              <a:t>JAKÉ MOMENTY BY MĚLY VSTOUPIT DO DĚJIN HACKNI POLITIKU? :)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400" b="0">
                <a:solidFill>
                  <a:srgbClr val="211C14"/>
                </a:solidFill>
                <a:latin typeface="Old Standard TT"/>
              </a:rPr>
              <a:t>Bez výrazných historek k zápisu do dějin hackathonu.</a:t>
            </a:r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56032" y="4905756"/>
            <a:ext cx="8631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CF5A31"/>
                </a:solidFill>
                <a:latin typeface="Oswald"/>
              </a:rPr>
              <a:t>poslusnehlasim.cz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